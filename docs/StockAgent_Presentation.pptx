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van Parimi" userId="6555ad88-f844-459b-ae56-0a23520dc1f2" providerId="ADAL" clId="{D1FE1B59-1062-4D6C-891B-13C1EEEF7663}"/>
    <pc:docChg chg="undo custSel modSld">
      <pc:chgData name="Revan Parimi" userId="6555ad88-f844-459b-ae56-0a23520dc1f2" providerId="ADAL" clId="{D1FE1B59-1062-4D6C-891B-13C1EEEF7663}" dt="2026-04-18T02:09:41.496" v="11" actId="1036"/>
      <pc:docMkLst>
        <pc:docMk/>
      </pc:docMkLst>
      <pc:sldChg chg="modSp mod">
        <pc:chgData name="Revan Parimi" userId="6555ad88-f844-459b-ae56-0a23520dc1f2" providerId="ADAL" clId="{D1FE1B59-1062-4D6C-891B-13C1EEEF7663}" dt="2026-04-18T02:09:41.496" v="11" actId="1036"/>
        <pc:sldMkLst>
          <pc:docMk/>
          <pc:sldMk cId="0" sldId="261"/>
        </pc:sldMkLst>
        <pc:spChg chg="mod">
          <ac:chgData name="Revan Parimi" userId="6555ad88-f844-459b-ae56-0a23520dc1f2" providerId="ADAL" clId="{D1FE1B59-1062-4D6C-891B-13C1EEEF7663}" dt="2026-04-18T02:09:41.496" v="11" actId="10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Revan Parimi" userId="6555ad88-f844-459b-ae56-0a23520dc1f2" providerId="ADAL" clId="{D1FE1B59-1062-4D6C-891B-13C1EEEF7663}" dt="2026-04-18T02:08:50.310" v="10" actId="108"/>
          <ac:spMkLst>
            <pc:docMk/>
            <pc:sldMk cId="0" sldId="261"/>
            <ac:spMk id="6" creationId="{00000000-0000-0000-0000-000000000000}"/>
          </ac:spMkLst>
        </pc:spChg>
        <pc:spChg chg="mod">
          <ac:chgData name="Revan Parimi" userId="6555ad88-f844-459b-ae56-0a23520dc1f2" providerId="ADAL" clId="{D1FE1B59-1062-4D6C-891B-13C1EEEF7663}" dt="2026-04-18T02:06:47.654" v="3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Revan Parimi" userId="6555ad88-f844-459b-ae56-0a23520dc1f2" providerId="ADAL" clId="{D1FE1B59-1062-4D6C-891B-13C1EEEF7663}" dt="2026-04-18T02:06:51.484" v="4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Revan Parimi" userId="6555ad88-f844-459b-ae56-0a23520dc1f2" providerId="ADAL" clId="{D1FE1B59-1062-4D6C-891B-13C1EEEF7663}" dt="2026-04-18T02:06:59.339" v="6" actId="1410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evan Parimi" userId="6555ad88-f844-459b-ae56-0a23520dc1f2" providerId="ADAL" clId="{D1FE1B59-1062-4D6C-891B-13C1EEEF7663}" dt="2026-04-18T02:06:55.217" v="5" actId="1076"/>
          <ac:spMkLst>
            <pc:docMk/>
            <pc:sldMk cId="0" sldId="261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E5FF"/>
                </a:solidFill>
              </a:rPr>
              <a:t>StockAgent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Multi-Agent AI for Indian Stock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D600"/>
                </a:solidFill>
              </a:rPr>
              <a:t>28 Specialist Agents  ·  4 Market Sectors  ·  4 Languages  ·  Real-Time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4343400"/>
            <a:ext cx="1371600" cy="347472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3799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4343400"/>
            <a:ext cx="137160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57400" y="43799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C++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4343400"/>
            <a:ext cx="13716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43799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TypeScript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19" y="4343400"/>
            <a:ext cx="1371600" cy="347472"/>
          </a:xfrm>
          <a:prstGeom prst="rect">
            <a:avLst/>
          </a:prstGeom>
          <a:solidFill>
            <a:srgbClr val="681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19" y="43799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BCC"/>
                </a:solidFill>
              </a:rPr>
              <a:t>LangGraph  ·  OpenRouter/Qwen3  ·  ChromaDB RAG  ·  FastAPI  ·  Quartz.NET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</a:rPr>
              <a:t>Revan Parimi  |  April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</a:rPr>
              <a:t>Why Multi-Agent?  The Core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029200" cy="5303520"/>
          </a:xfrm>
          <a:prstGeom prst="rect">
            <a:avLst/>
          </a:prstGeom>
          <a:solidFill>
            <a:srgbClr val="12263A"/>
          </a:solidFill>
          <a:ln w="2540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4C4C"/>
                </a:solidFill>
              </a:rPr>
              <a:t>❌  Single LLM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4846320" cy="320040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4626864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User: "Should I buy MARUTI?"</a:t>
            </a:r>
          </a:p>
          <a:p>
            <a:pPr algn="l"/>
            <a:endParaRPr sz="1200">
              <a:solidFill>
                <a:srgbClr val="00E67A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LLM: "MARUTI is a leading auto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company. Strong fundamentals.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Consider EV transition risks.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Diversify your portfolio."</a:t>
            </a:r>
          </a:p>
          <a:p>
            <a:pPr algn="l"/>
            <a:endParaRPr sz="1200">
              <a:solidFill>
                <a:srgbClr val="00E67A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→ Shallow  →  Generic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→  No data  →  Not actionable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One prompt cannot go deep on
Technicals AND Fundamentals
AND Policy AND Macro simultaneously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005840"/>
            <a:ext cx="5852160" cy="530352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67A"/>
                </a:solidFill>
              </a:rPr>
              <a:t>✅  StockAgent: 8 Specialists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📊  Fundamentals Agent    → P&amp;L, margins, EPS 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1854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📈  Pattern Analysis      → RSI, MACD, support/resistance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6791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🏭  Raw Materials         → steel, crude, aluminium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1729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🚗  Sales &amp; Demand        → FADA dispatch, EV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6667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📰  Policy &amp; Regulatory   → FAME subsidies, BS7/CAFE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160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🏆  Competitive Intel     → EV market share, new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6542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🌍  Risk &amp; Macro          → INR/USD, repo rate, geopolitics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51480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💬  Sentiment             → news NLP, management 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566928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Each agent forced to go DEEP
on its own domain → Signal Aggregator
fuses all 8 views into one verdict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</a:rPr>
              <a:t>Key Concept 1 — What Is an LLM Agent?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468880" cy="91440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FF"/>
                </a:solidFill>
              </a:rPr>
              <a:t>CONTEXT
(Live Data)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05840"/>
            <a:ext cx="2468880" cy="914400"/>
          </a:xfrm>
          <a:prstGeom prst="rect">
            <a:avLst/>
          </a:prstGeom>
          <a:solidFill>
            <a:srgbClr val="1226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1097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600"/>
                </a:solidFill>
              </a:rPr>
              <a:t>PROMPT
(Instructions)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05840"/>
            <a:ext cx="2468880" cy="914400"/>
          </a:xfrm>
          <a:prstGeom prst="rect">
            <a:avLst/>
          </a:prstGeom>
          <a:solidFill>
            <a:srgbClr val="12263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LLM CALL
(Qwen3-235B)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005840"/>
            <a:ext cx="2468880" cy="91440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1097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67A"/>
                </a:solidFill>
              </a:rPr>
              <a:t>STRUCTURED
JSON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Context Sources: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yfinance: OHLCV, financials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Serper: Google news snippets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Tavily: full policy documents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ChromaDB RAG (optional)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011680"/>
            <a:ext cx="5029200" cy="420624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93008" y="2103120"/>
            <a:ext cx="4809744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"overall_score": 0.68,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"sub_scores": {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  "price_cycle_position": 0.62,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  "seasonal_pattern":     0.72,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  "rsi_macd_bb":          0.65,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  "breakout_support_zone":0.55,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  "peer_correlation":     0.60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},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"key_positives": ["MACD bullish crossover",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                  "Q3 festive tailwind"],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"key_risks": ["Near resistance at 12,800"],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"summary": "Mid-cycle, momentum building"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response_format={"type": "json_object"}
guarantees parseable output.
Scores clamped to [0.0, 1.0].
On parse failure → score=0.5 (neutral fallback).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1148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600"/>
                </a:solidFill>
              </a:rPr>
              <a:t>Retry: 3 attempts with exponential back-off
Model: qwen/qwen3-235b-a22b via OpenRouter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</a:rPr>
              <a:t>Key Concept 2 — LangGraph: The Orchestration Brain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LangGraph is a graph-based orchestration
framework for LLM workflows.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029200" cy="868680"/>
          </a:xfrm>
          <a:prstGeom prst="rect">
            <a:avLst/>
          </a:prstGeom>
          <a:solidFill>
            <a:srgbClr val="12263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StateGraph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12264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BBCC"/>
                </a:solidFill>
              </a:rPr>
              <a:t>Directed graph where nodes are functions
and edges define 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24328"/>
            <a:ext cx="5029200" cy="868680"/>
          </a:xfrm>
          <a:prstGeom prst="rect">
            <a:avLst/>
          </a:prstGeom>
          <a:solidFill>
            <a:srgbClr val="12263A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6700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Send()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4495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BBCC"/>
                </a:solidFill>
              </a:rPr>
              <a:t>Fan-out primitive — spawns N parallel
branches, each with its own state.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57016"/>
            <a:ext cx="5029200" cy="868680"/>
          </a:xfrm>
          <a:prstGeom prst="rect">
            <a:avLst/>
          </a:prstGeom>
          <a:solidFill>
            <a:srgbClr val="1226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6027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00"/>
                </a:solidFill>
              </a:rPr>
              <a:t>Reducer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7764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BBCC"/>
                </a:solidFill>
              </a:rPr>
              <a:t>Fan-in merge — combines all parallel
branch results into one state dict.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9704"/>
            <a:ext cx="5029200" cy="868680"/>
          </a:xfrm>
          <a:prstGeom prst="rect">
            <a:avLst/>
          </a:prstGeom>
          <a:solidFill>
            <a:srgbClr val="12263A"/>
          </a:solidFill>
          <a:ln w="12700">
            <a:solidFill>
              <a:srgbClr val="00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5354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A"/>
                </a:solidFill>
              </a:rPr>
              <a:t>RetryPolicy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10328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BBCC"/>
                </a:solidFill>
              </a:rPr>
              <a:t>Automatic retry per node if agent
fails (max_attempts=2 here).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422392"/>
            <a:ext cx="5029200" cy="868680"/>
          </a:xfrm>
          <a:prstGeom prst="rect">
            <a:avLst/>
          </a:prstGeom>
          <a:solidFill>
            <a:srgbClr val="12263A"/>
          </a:solidFill>
          <a:ln w="12700">
            <a:solidFill>
              <a:srgbClr val="FF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4681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EFF"/>
                </a:solidFill>
              </a:rPr>
              <a:t>input_rail /
output_rail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843016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BBCC"/>
                </a:solidFill>
              </a:rPr>
              <a:t>Guard nodes: validate input ticker,
clamp scores 0-1, inject defaults.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960120"/>
            <a:ext cx="5943600" cy="566928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70448" y="1051560"/>
            <a:ext cx="5724144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graph.invoke({"ticker": "TCS"})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│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[resolve_ticker]  ← LLM temp=0 → StockQuery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│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[input_rail]  ← yfinance ticker check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│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├── Send("run_agent", {agent: fund})   ─┐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├── Send("run_agent", {agent: macro})   │ PARALLEL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├── Send("run_agent", {agent: risk})    │ fan-out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├── Send("run_agent", {agent: pattern}) │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└── Send("run_agent", {agent: ...N})  ──┘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         │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         │  _merge_dicts reducer collects all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         │  AgentOutput objects into state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         │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[aggregate]  ← conflict_rail if spread &gt; 0.35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│           → LLM re-resolution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│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END   →  state["final_report"] = FinalReport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</a:rPr>
              <a:t>Key Concept 3 — ContextBuilder: Data Routing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6126480" cy="384048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5907024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ContextBuilder.build(agent_name, query, sector="bfsi")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│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▼ Step 1: Sector-specific?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├── _build_bfsi_fundamentals()  ← NPA/NIM/CASA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├── _build_bfsi_risk()           ← slippage, concentration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├── _build_macro_policy()        ← RBI repo, MPC stance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│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▼ Step 2: Generic automobile fallback?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├── _build_pattern_analysis()   ← yfinance OHLCV (any sector)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├── _build_fundamentals()       ← quarterly P&amp;L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│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▼ Step 3: Last resort</a:t>
            </a:r>
          </a:p>
          <a:p>
            <a:pPr algn="l"/>
            <a:r>
              <a:rPr sz="1100">
                <a:solidFill>
                  <a:srgbClr val="00E67A"/>
                </a:solidFill>
                <a:latin typeface="Consolas"/>
              </a:rPr>
              <a:t>      └── _build_generic()  → "Stock: MARUTI | Date: 2026-04-18"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Why 3 levels?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pattern_analysis is pure yfinance → works for
  ALL sectors via fallthrough
• sector-specific builders write NPA queries,
  not crude-oil queries
• stub ensures pipeline NEVER crashes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960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FF"/>
                </a:solidFill>
              </a:rPr>
              <a:t>Data Fetchers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371600"/>
            <a:ext cx="2286000" cy="42062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4304" y="1417320"/>
            <a:ext cx="2176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2A"/>
                </a:solidFill>
              </a:rPr>
              <a:t>Fetcher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371600"/>
            <a:ext cx="2560320" cy="42062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90304" y="1417320"/>
            <a:ext cx="2450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2A"/>
                </a:solidFill>
              </a:rPr>
              <a:t>Returns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95760" y="1371600"/>
            <a:ext cx="1371600" cy="42062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50624" y="1417320"/>
            <a:ext cx="1261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2A"/>
                </a:solidFill>
              </a:rPr>
              <a:t>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1792224"/>
            <a:ext cx="2286000" cy="420624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04304" y="1828800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get_fundamentals_context()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792224"/>
            <a:ext cx="2560320" cy="420624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90304" y="1828800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Revenue, EBITDA, margins (yfinance)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795760" y="1792224"/>
            <a:ext cx="1371600" cy="420624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50624" y="182880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2212848"/>
            <a:ext cx="2286000" cy="420624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04304" y="2249424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get_technical_context()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2212848"/>
            <a:ext cx="2560320" cy="420624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90304" y="2249424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RSI, MACD, Bollinger Bands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795760" y="2212848"/>
            <a:ext cx="1371600" cy="420624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50624" y="2249424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633472"/>
            <a:ext cx="2286000" cy="420624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04304" y="2670048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get_macro_context()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2633472"/>
            <a:ext cx="2560320" cy="420624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90304" y="2670048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INR/USD, crude, repo 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795760" y="2633472"/>
            <a:ext cx="1371600" cy="420624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850624" y="2670048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3054096"/>
            <a:ext cx="2286000" cy="420624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04304" y="309067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fetch_news_context()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3054096"/>
            <a:ext cx="2560320" cy="420624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90304" y="3090672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Google snippets via Serper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795760" y="3054096"/>
            <a:ext cx="1371600" cy="420624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850624" y="3090672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2,500/mo free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3474720"/>
            <a:ext cx="2286000" cy="420624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04304" y="3511296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fetch_tavily_context()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3474720"/>
            <a:ext cx="2560320" cy="420624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90304" y="3511296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Full PDF/page extraction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795760" y="3474720"/>
            <a:ext cx="1371600" cy="420624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850624" y="3511296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1,000/mo free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Why not give every agent ALL data?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45262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Token limit = 2,048 tokens per agent response.
Stuffing irrelevant data wastes tokens and
dilutes the signal. Each agent gets only
what IT needs for its specific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</a:rPr>
              <a:t>Key Concept 4 — RAG: Retrieval-Augmented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BCC"/>
                </a:solidFill>
              </a:rPr>
              <a:t>RAG lets agents reason over YOUR documents (annual reports, SEBI filings,
MNRE circulars) — not just LLM training data or live news.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500" b="1" dirty="0">
                <a:solidFill>
                  <a:srgbClr val="00E5FF"/>
                </a:solidFill>
              </a:rPr>
              <a:t>INGESTION  (one-time,</a:t>
            </a:r>
            <a:r>
              <a:rPr sz="1500" b="1" dirty="0">
                <a:solidFill>
                  <a:srgbClr val="00E5FF"/>
                </a:solidFill>
              </a:rPr>
              <a:t> offline</a:t>
            </a:r>
            <a:r>
              <a:rPr sz="1500" b="1" i="0" dirty="0">
                <a:solidFill>
                  <a:srgbClr val="00E67A"/>
                </a:solidFill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57400"/>
            <a:ext cx="5193792" cy="2148839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148840"/>
            <a:ext cx="5084064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python scripts/ingest_documents.py --</a:t>
            </a:r>
            <a:r>
              <a:rPr sz="1150" dirty="0" err="1">
                <a:solidFill>
                  <a:srgbClr val="00E67A"/>
                </a:solidFill>
                <a:latin typeface="Consolas"/>
              </a:rPr>
              <a:t>dir</a:t>
            </a:r>
            <a:r>
              <a:rPr sz="1150" dirty="0">
                <a:solidFill>
                  <a:srgbClr val="00E67A"/>
                </a:solidFill>
                <a:latin typeface="Consolas"/>
              </a:rPr>
              <a:t> data/</a:t>
            </a:r>
          </a:p>
          <a:p>
            <a:pPr algn="l"/>
            <a:endParaRPr sz="1150" dirty="0">
              <a:solidFill>
                <a:srgbClr val="00E67A"/>
              </a:solidFill>
              <a:latin typeface="Consolas"/>
            </a:endParaRPr>
          </a:p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PDF / TXT / MD</a:t>
            </a:r>
          </a:p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  └─► _</a:t>
            </a:r>
            <a:r>
              <a:rPr sz="1150" dirty="0" err="1">
                <a:solidFill>
                  <a:srgbClr val="00E67A"/>
                </a:solidFill>
                <a:latin typeface="Consolas"/>
              </a:rPr>
              <a:t>chunk_text</a:t>
            </a:r>
            <a:r>
              <a:rPr sz="1150" dirty="0">
                <a:solidFill>
                  <a:srgbClr val="00E67A"/>
                </a:solidFill>
                <a:latin typeface="Consolas"/>
              </a:rPr>
              <a:t>(512 tokens, 64 overlap)</a:t>
            </a:r>
          </a:p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        └─► sentence-</a:t>
            </a:r>
            <a:r>
              <a:rPr sz="1150" dirty="0" err="1">
                <a:solidFill>
                  <a:srgbClr val="00E67A"/>
                </a:solidFill>
                <a:latin typeface="Consolas"/>
              </a:rPr>
              <a:t>transformers.embed_batch</a:t>
            </a:r>
            <a:r>
              <a:rPr sz="1150" dirty="0">
                <a:solidFill>
                  <a:srgbClr val="00E67A"/>
                </a:solidFill>
                <a:latin typeface="Consolas"/>
              </a:rPr>
              <a:t>()</a:t>
            </a:r>
          </a:p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              └─► </a:t>
            </a:r>
            <a:r>
              <a:rPr sz="1150" dirty="0" err="1">
                <a:solidFill>
                  <a:srgbClr val="00E67A"/>
                </a:solidFill>
                <a:latin typeface="Consolas"/>
              </a:rPr>
              <a:t>ChromaDB.upsert</a:t>
            </a:r>
            <a:r>
              <a:rPr sz="1150" dirty="0">
                <a:solidFill>
                  <a:srgbClr val="00E67A"/>
                </a:solidFill>
                <a:latin typeface="Consolas"/>
              </a:rPr>
              <a:t>()</a:t>
            </a:r>
          </a:p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                   metadata: {ticker, </a:t>
            </a:r>
            <a:r>
              <a:rPr sz="1150" dirty="0" err="1">
                <a:solidFill>
                  <a:srgbClr val="00E67A"/>
                </a:solidFill>
                <a:latin typeface="Consolas"/>
              </a:rPr>
              <a:t>doc_type</a:t>
            </a:r>
            <a:r>
              <a:rPr sz="1150" dirty="0">
                <a:solidFill>
                  <a:srgbClr val="00E67A"/>
                </a:solidFill>
                <a:latin typeface="Consolas"/>
              </a:rPr>
              <a:t>,</a:t>
            </a:r>
          </a:p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                              </a:t>
            </a:r>
            <a:r>
              <a:rPr sz="1150" dirty="0" err="1">
                <a:solidFill>
                  <a:srgbClr val="00E67A"/>
                </a:solidFill>
                <a:latin typeface="Consolas"/>
              </a:rPr>
              <a:t>chunk_index</a:t>
            </a:r>
            <a:r>
              <a:rPr sz="1150" dirty="0">
                <a:solidFill>
                  <a:srgbClr val="00E67A"/>
                </a:solidFill>
                <a:latin typeface="Consolas"/>
              </a:rPr>
              <a:t>, source}</a:t>
            </a:r>
          </a:p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                   ID: MD5(chunk) → re-ingest = idempotent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422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00E5FF"/>
                </a:solidFill>
              </a:rPr>
              <a:t>RETRIEVAL  (per agent, runtime)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35706"/>
            <a:ext cx="5303520" cy="1893694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4869180"/>
            <a:ext cx="508406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_</a:t>
            </a:r>
            <a:r>
              <a:rPr sz="1150" dirty="0" err="1">
                <a:solidFill>
                  <a:srgbClr val="00E67A"/>
                </a:solidFill>
                <a:latin typeface="Consolas"/>
              </a:rPr>
              <a:t>rag_retrieve</a:t>
            </a:r>
            <a:r>
              <a:rPr sz="1150" dirty="0">
                <a:solidFill>
                  <a:srgbClr val="00E67A"/>
                </a:solidFill>
                <a:latin typeface="Consolas"/>
              </a:rPr>
              <a:t>(query="MARUTI NIM trend")</a:t>
            </a:r>
          </a:p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  └─► embed(query) → single vector</a:t>
            </a:r>
          </a:p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        └─► </a:t>
            </a:r>
            <a:r>
              <a:rPr sz="1150" dirty="0" err="1">
                <a:solidFill>
                  <a:srgbClr val="00E67A"/>
                </a:solidFill>
                <a:latin typeface="Consolas"/>
              </a:rPr>
              <a:t>ChromaDB</a:t>
            </a:r>
            <a:r>
              <a:rPr sz="1150" dirty="0">
                <a:solidFill>
                  <a:srgbClr val="00E67A"/>
                </a:solidFill>
                <a:latin typeface="Consolas"/>
              </a:rPr>
              <a:t> cosine similarity</a:t>
            </a:r>
          </a:p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              filter: {ticker: "MARUTI"}</a:t>
            </a:r>
          </a:p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              → top-5 chunks (score ≥ 0.75)</a:t>
            </a:r>
          </a:p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        └─► [optional] </a:t>
            </a:r>
            <a:r>
              <a:rPr sz="1150" dirty="0" err="1">
                <a:solidFill>
                  <a:srgbClr val="00E67A"/>
                </a:solidFill>
                <a:latin typeface="Consolas"/>
              </a:rPr>
              <a:t>CrossEncoder</a:t>
            </a:r>
            <a:r>
              <a:rPr sz="1150" dirty="0">
                <a:solidFill>
                  <a:srgbClr val="00E67A"/>
                </a:solidFill>
                <a:latin typeface="Consolas"/>
              </a:rPr>
              <a:t> re-rank</a:t>
            </a:r>
          </a:p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              → ordered by relevance</a:t>
            </a:r>
          </a:p>
          <a:p>
            <a:pPr algn="l"/>
            <a:r>
              <a:rPr sz="1150" dirty="0">
                <a:solidFill>
                  <a:srgbClr val="00E67A"/>
                </a:solidFill>
                <a:latin typeface="Consolas"/>
              </a:rPr>
              <a:t>  returns: "---".join(chunks) → agent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Context Priority 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03120"/>
            <a:ext cx="5486400" cy="100584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1762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67A"/>
                </a:solidFill>
              </a:rPr>
              <a:t>1.  RAG (ChromaDB)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06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Your own docs — highest precision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91839"/>
            <a:ext cx="5486400" cy="100584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3364991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</a:rPr>
              <a:t>2.  ContextBuilder (live)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79475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yfinance + Serper + Tavily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480560"/>
            <a:ext cx="5486400" cy="1005840"/>
          </a:xfrm>
          <a:prstGeom prst="rect">
            <a:avLst/>
          </a:prstGeom>
          <a:solidFill>
            <a:srgbClr val="1226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45537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00"/>
                </a:solidFill>
              </a:rPr>
              <a:t>3.  Minimal stub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983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"Stock: MARUTI | Date: ..." — never crashes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7150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ChromaDB stores embeddings locally — no cloud,
no latency, full control. Cosine similarity finds
semantically similar chunks even with different wording.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</a:rPr>
              <a:t>Key Concept 5 — Signal Aggregation &amp; Conflict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</a:rPr>
              <a:t>Step 1: Weighted Fusion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669280" cy="329184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508760"/>
            <a:ext cx="5449824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Agent              Score   ×   Weight   =   Weighted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───────────────────────────────────────────────────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sales_demand       0.72   ×   0.18     =   0.130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raw_materials      0.60   ×   0.10     =   0.060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fundamentals       0.68   ×   0.20     =   0.136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pattern_analysis   0.63   ×   0.13     =   0.082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policy_regulatory  0.65   ×   0.10     =   0.065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competitive_intel  0.62   ×   0.10     =   0.062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risk_macro         0.58   ×   0.15     =   0.087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sentiment          0.70   ×   0.04     =   0.028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───────────────────────────────────────────────────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COMPOSITE                               =   0.650  → BUY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Score → Verdict Mapping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166360"/>
            <a:ext cx="1078992" cy="118872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523951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A"/>
                </a:solidFill>
              </a:rPr>
              <a:t>🚀 STRONG BUY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064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0.75 – 1.00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91056" y="5166360"/>
            <a:ext cx="1078992" cy="118872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36776" y="523951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5FF"/>
                </a:solidFill>
              </a:rPr>
              <a:t>✅ 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6776" y="58064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0.55 – 0.75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24912" y="5166360"/>
            <a:ext cx="1078992" cy="1188720"/>
          </a:xfrm>
          <a:prstGeom prst="rect">
            <a:avLst/>
          </a:prstGeom>
          <a:solidFill>
            <a:srgbClr val="1226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70632" y="523951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600"/>
                </a:solidFill>
              </a:rPr>
              <a:t>⚖️  NEUTRAL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58064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0.40 – 0.55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58768" y="5166360"/>
            <a:ext cx="1078992" cy="1188720"/>
          </a:xfrm>
          <a:prstGeom prst="rect">
            <a:avLst/>
          </a:prstGeom>
          <a:solidFill>
            <a:srgbClr val="12263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4488" y="523951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C00"/>
                </a:solidFill>
              </a:rPr>
              <a:t>⚠️  SELL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4488" y="58064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0.20 – 0.40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92624" y="5166360"/>
            <a:ext cx="1078992" cy="1188720"/>
          </a:xfrm>
          <a:prstGeom prst="rect">
            <a:avLst/>
          </a:prstGeom>
          <a:solidFill>
            <a:srgbClr val="12263A"/>
          </a:solidFill>
          <a:ln w="2540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38344" y="523951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C4C"/>
                </a:solidFill>
              </a:rPr>
              <a:t>🔴 STRONG SELL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4" y="58064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0.00 – 0.20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C4C"/>
                </a:solidFill>
              </a:rPr>
              <a:t>Step 2: Conflict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417320"/>
            <a:ext cx="5486400" cy="237744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8" y="1508760"/>
            <a:ext cx="5266944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# Flag conflict if agents disagree by ≥0.30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if abs(score_A - score_B) &gt;= 0.30: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conflict_flags.append((A, B))</a:t>
            </a:r>
          </a:p>
          <a:p>
            <a:pPr algn="l"/>
            <a:endParaRPr sz="1150">
              <a:solidFill>
                <a:srgbClr val="00E67A"/>
              </a:solidFill>
              <a:latin typeface="Consolas"/>
            </a:endParaRP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Example conflict: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fundamentals  = 0.75  (BUY range)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risk_macro    = 0.35  (SELL range)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|0.75 - 0.35| = 0.40 ≥ 0.30  → CONFLICT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Step 3: LLM Resolution (not arithmetic!)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434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Signal Aggregator sends all 8 scores + weights +
conflict list to Qwen3. The LLM reasons:
  "Fundamentals strong (₹18K Cr revenue growth)
   but macro bearish (RBI tightening, crude +12%).
   Macro risk is near-term; fundamentals are structural.
   Adjusted score: 0.62 → BUY with caution."
A formula (discard outliers) loses information.
Reasoning determines WHICH signal is more reliable 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</a:rPr>
              <a:t>Key Concept 6 — Macro Cache: Smart API Budget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</a:rPr>
              <a:t>Serper free tier = 2,500 queries/month. Analysing 5 tickers/day × 3 sectors × 22 days = 330 sector-level calls wasted
asking the SAME Fed rate / RBI repo question for every ticker. Macro Cache solves this.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6858000" cy="402336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6638544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main.py: _micro_search_loop()  [background daemon, every 4 hours]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│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├── fetch_news_context(automobile_queries[:2])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│       → set_macro_cache("automobile", text)  ← key = "automobile"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│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├── fetch_news_context(bfsi_queries[:2])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│       → set_macro_cache("bfsi", text)        ← key = "bfsi"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│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└── fetch_news_context(it_queries[:2])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        → set_macro_cache("it", text)          ← key = "it"</a:t>
            </a:r>
          </a:p>
          <a:p>
            <a:pPr algn="l"/>
            <a:endParaRPr sz="1150">
              <a:solidFill>
                <a:srgbClr val="00E67A"/>
              </a:solidFill>
              <a:latin typeface="Consolas"/>
            </a:endParaRP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Per-analysis (e.g. analysing HDFCBANK):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ContextBuilder._build_macro_policy()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    cached = get_macro_cache("bfsi")   ← TTL = 2 hours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    if cached: return cached           ← SAVES 3 Serper calls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    else: fetch Serper (cold start only)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645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00"/>
                </a:solidFill>
              </a:rPr>
              <a:t>Budget Math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2057400"/>
            <a:ext cx="3200400" cy="42062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44384" y="2103120"/>
            <a:ext cx="3090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2057400"/>
            <a:ext cx="1097280" cy="42062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44784" y="2103120"/>
            <a:ext cx="987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Calls/month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478024"/>
            <a:ext cx="3200400" cy="420624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44384" y="2514600"/>
            <a:ext cx="3090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Micro loop (3 sectors × 2 q × 6 cycles × 30d)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0" y="2478024"/>
            <a:ext cx="1097280" cy="420624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44784" y="2514600"/>
            <a:ext cx="987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1,080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898648"/>
            <a:ext cx="3200400" cy="420624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44384" y="2935224"/>
            <a:ext cx="3090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Saved (3 calls × 5 tickers × 3 sectors × 22d)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20" y="2898648"/>
            <a:ext cx="1097280" cy="420624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844784" y="2935224"/>
            <a:ext cx="987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−990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319272"/>
            <a:ext cx="3200400" cy="420624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44384" y="3355848"/>
            <a:ext cx="3090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Net loop overhead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0" y="3319272"/>
            <a:ext cx="1097280" cy="420624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44784" y="3355848"/>
            <a:ext cx="987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657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Queries cached per sector: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4069080"/>
            <a:ext cx="4297680" cy="658368"/>
          </a:xfrm>
          <a:prstGeom prst="rect">
            <a:avLst/>
          </a:prstGeom>
          <a:solidFill>
            <a:srgbClr val="12263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26679" y="41056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AUTOMOBILE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441655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Nifty Auto outlook, crude/steel/EV policy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4782312"/>
            <a:ext cx="4297680" cy="658368"/>
          </a:xfrm>
          <a:prstGeom prst="rect">
            <a:avLst/>
          </a:prstGeom>
          <a:solidFill>
            <a:srgbClr val="12263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26679" y="48188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BFSI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512978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RBI MPC repo, credit growth, NPA quality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5495544"/>
            <a:ext cx="4297680" cy="658368"/>
          </a:xfrm>
          <a:prstGeom prst="rect">
            <a:avLst/>
          </a:prstGeom>
          <a:solidFill>
            <a:srgbClr val="12263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26679" y="55321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584301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US IT spend, Fed rate, H1B, GenAI demand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064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</a:rPr>
              <a:t>RE sector EXCLUDED — MNRE auctions, DISCOM
payments, curtailment vary per company,
not sector-wide. No cache benefit.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</a:rPr>
              <a:t>System Architecture — 4 Languages, 1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623560" cy="242316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612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E67A"/>
                </a:solidFill>
              </a:rPr>
              <a:t>Python  :8000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8+ LLM agents  ·  LangGraph graphs  ·  FastAPI
ContextBuilder  ·  RAG pipeline  ·  APScheduler
POST /analyse  ·  WS /ws/stream  ·  GET /history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51560"/>
            <a:ext cx="5623560" cy="2423160"/>
          </a:xfrm>
          <a:prstGeom prst="rect">
            <a:avLst/>
          </a:prstGeom>
          <a:solidFill>
            <a:srgbClr val="12263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1612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C00"/>
                </a:solidFill>
              </a:rPr>
              <a:t>C++  (in-process)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RSI(14), MACD(12,26,9), Bollinger Bands(20,2σ)
pybind11 .pyd extension: stockindicators
Pure-Python fallback if .pyd absent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657600"/>
            <a:ext cx="5623560" cy="242316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7673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E5FF"/>
                </a:solidFill>
              </a:rPr>
              <a:t>TypeScript  :3000/:3001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Express REST proxy → :8000 (POST /api/analyse)
WebSocket hub → :8000/ws/stream rebroadcast
GET /api/schedule → :5000/scheduler/status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623560" cy="2423160"/>
          </a:xfrm>
          <a:prstGeom prst="rect">
            <a:avLst/>
          </a:prstGeom>
          <a:solidFill>
            <a:srgbClr val="12263A"/>
          </a:solidFill>
          <a:ln w="25400">
            <a:solidFill>
              <a:srgbClr val="A0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7673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060FF"/>
                </a:solidFill>
              </a:rPr>
              <a:t>C#  :5000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25196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Quartz.NET cron: 8:30am IST weekdays
EF Core → SQL Server (ScoreRecords table)
POST :8000/analyse → save score → fire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AABBCC"/>
                </a:solidFill>
              </a:rPr>
              <a:t>All language boundaries use JSON over HTTP — no shared memory, no cross-language FFI  (C++ is the only exception: in-process via pybind11 for zero-copy array passing).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</a:rPr>
              <a:t>4 Independent LangGraph Sector Graphs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788920" cy="548640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A"/>
                </a:solidFill>
              </a:rPr>
              <a:t>🚗  Automobile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8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9339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Top weight:
fundamentals 0.20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A"/>
                </a:solidFill>
              </a:rPr>
              <a:t>Unique signals: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35808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FADA/Vahan dispatch
Competitive Intel (EV)
FAME policy (Tavily)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005840"/>
            <a:ext cx="2788920" cy="548640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0128" y="10972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🏦  Banking / BFSI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162763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99339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Top weight:
fundamentals 0.25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6974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</a:rPr>
              <a:t>Unique signals: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3035808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NPA / NIM / CASA
RBI MPC rate cycle
BFSI macro cache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005840"/>
            <a:ext cx="2788920" cy="5486400"/>
          </a:xfrm>
          <a:prstGeom prst="rect">
            <a:avLst/>
          </a:prstGeom>
          <a:solidFill>
            <a:srgbClr val="1226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54496" y="10972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💻  IT Sector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162763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8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199339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Top weight:
fundamentals 0.25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6974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Unique signals: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3035808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US tech spend + visa risk
Transcript NLP (Tavily)
IT macro cache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07424" y="1005840"/>
            <a:ext cx="2788920" cy="5486400"/>
          </a:xfrm>
          <a:prstGeom prst="rect">
            <a:avLst/>
          </a:prstGeom>
          <a:solidFill>
            <a:srgbClr val="12263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98864" y="10972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00"/>
                </a:solidFill>
              </a:rPr>
              <a:t>🌱  Renewable 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162763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199339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Top weight:
fundamentals 0.30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4" y="26974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Unique signals: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4" y="3035808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CUF / DSCR / EV/MW
MNRE auctions (Tavily)
Risk monitor (weight=0)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709160"/>
            <a:ext cx="11640312" cy="822960"/>
          </a:xfrm>
          <a:prstGeom prst="rect">
            <a:avLst/>
          </a:prstGeom>
          <a:solidFill>
            <a:srgbClr val="12263A"/>
          </a:solidFill>
          <a:ln w="1270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ABBCC"/>
                </a:solidFill>
              </a:rPr>
              <a:t>All 4 graphs share: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800600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BaseAgent  ·  ContextBuilder (sector routing)  ·  macro_cache  ·  LangGraph node factories  ·  input_rail / output_rail / conflict_rail  ·  FinalReport schema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77840"/>
            <a:ext cx="18288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9184" y="5623560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103120" y="5577840"/>
            <a:ext cx="22860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57984" y="5623560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2A"/>
                </a:solidFill>
              </a:rPr>
              <a:t>Automobile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5577840"/>
            <a:ext cx="22860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43984" y="5623560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2A"/>
                </a:solidFill>
              </a:rPr>
              <a:t>BFSI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5577840"/>
            <a:ext cx="22860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9984" y="5623560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2A"/>
                </a:solidFill>
              </a:rPr>
              <a:t>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5577840"/>
            <a:ext cx="22860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15984" y="5623560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2A"/>
                </a:solidFill>
              </a:rPr>
              <a:t>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925312"/>
            <a:ext cx="182880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184" y="5961888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Serper/run (warm)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03120" y="5925312"/>
            <a:ext cx="228600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57984" y="5961888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5925312"/>
            <a:ext cx="228600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43984" y="5961888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0" y="5925312"/>
            <a:ext cx="228600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29984" y="5961888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5925312"/>
            <a:ext cx="228600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15984" y="5961888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6272784"/>
            <a:ext cx="1828800" cy="347472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9184" y="6309360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Tavily/run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03120" y="6272784"/>
            <a:ext cx="2286000" cy="347472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157984" y="630936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6272784"/>
            <a:ext cx="2286000" cy="347472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43984" y="630936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6272784"/>
            <a:ext cx="2286000" cy="347472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29984" y="630936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61120" y="6272784"/>
            <a:ext cx="2286000" cy="347472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15984" y="630936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6620256"/>
            <a:ext cx="182880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9184" y="6656832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Macro cache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03120" y="6620256"/>
            <a:ext cx="228600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157984" y="6656832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automobile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0" y="6620256"/>
            <a:ext cx="228600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43984" y="6656832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bfsi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75120" y="6620256"/>
            <a:ext cx="228600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729984" y="6656832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it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61120" y="6620256"/>
            <a:ext cx="228600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15984" y="6656832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✗ (per-company)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</a:rPr>
              <a:t>End-to-End: "MARUTI" → Investment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657600" cy="237744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502920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155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Ticker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LLM call (temp=0.0)
"Maruti Suzuki" → MARUTI.NS
Pydantic StockQuery object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005840"/>
            <a:ext cx="3657600" cy="2377440"/>
          </a:xfrm>
          <a:prstGeom prst="rect">
            <a:avLst/>
          </a:prstGeom>
          <a:solidFill>
            <a:srgbClr val="1226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399" y="1097280"/>
            <a:ext cx="502920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399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11155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Context Assembly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1664208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RAG → ContextBuilder → stub
Per-agent: yfinance + Serper
~440–2825 context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005840"/>
            <a:ext cx="3657600" cy="2377440"/>
          </a:xfrm>
          <a:prstGeom prst="rect">
            <a:avLst/>
          </a:prstGeom>
          <a:solidFill>
            <a:srgbClr val="12263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19" y="1097280"/>
            <a:ext cx="50292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79" y="11155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00"/>
                </a:solidFill>
              </a:rPr>
              <a:t>Parallel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1664208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asyncio.gather × 8
or ThreadPoolExecutor × 8
All agents fire simultaneously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611880"/>
            <a:ext cx="3657600" cy="237744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" y="3703320"/>
            <a:ext cx="502920" cy="50292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3703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72160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A"/>
                </a:solidFill>
              </a:rPr>
              <a:t>LLM per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70248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Qwen3-235B via OpenRouter
JSON output: 5 sub-scores
Retry 3× on failure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611880"/>
            <a:ext cx="3657600" cy="237744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399" y="3703320"/>
            <a:ext cx="502920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399" y="3703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59" y="372160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Aggregation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19" y="4270248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Weighted composite score
Conflict detection ≥0.30
LLM resolves conflicts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3611880"/>
            <a:ext cx="3657600" cy="2377440"/>
          </a:xfrm>
          <a:prstGeom prst="rect">
            <a:avLst/>
          </a:prstGeom>
          <a:solidFill>
            <a:srgbClr val="1226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75319" y="3703320"/>
            <a:ext cx="502920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19" y="3703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79" y="372160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Final Verdict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9" y="4270248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Score → STRONG BUY/BUY/
NEUTRAL/SELL/STRONG SELL
Saved to SQLite / SQL Server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Full run time: ~25–45 seconds  |  ~15,230 LLM tokens (automobile)  |  Sync path (CLI) or Async path (FastAPI)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</a:rPr>
              <a:t>Key Concept 7 — C++ Indicators via pybind11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BCC"/>
                </a:solidFill>
              </a:rPr>
              <a:t>RSI, MACD, and Bollinger Bands are implemented in C++ for correctness and speed.
Python falls back gracefully if the .pyd extension isn't built.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943600" cy="420624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5724144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try: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import stockindicators as _cpp_indicators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_USE_CPP = True     # C++ path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except ImportError: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_USE_CPP = False    # pure-Python pandas fallback</a:t>
            </a:r>
          </a:p>
          <a:p>
            <a:pPr algn="l"/>
            <a:endParaRPr sz="1150">
              <a:solidFill>
                <a:srgbClr val="00E67A"/>
              </a:solidFill>
              <a:latin typeface="Consolas"/>
            </a:endParaRP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def compute_rsi(close, period=14):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if _USE_CPP: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    return _cpp_indicators.compute_rsi(close.tolist(), period)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# pandas fallback: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delta = close.diff()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gain = delta.clip(lower=0)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loss = -delta.clip(upper=0)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avg_gain = gain.ewm(com=period-1, adjust=True).mean()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avg_loss = loss.ewm(com=period-1, adjust=True).mean()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rs = avg_gain / avg_loss</a:t>
            </a:r>
          </a:p>
          <a:p>
            <a:pPr algn="l"/>
            <a:r>
              <a:rPr sz="1150">
                <a:solidFill>
                  <a:srgbClr val="00E67A"/>
                </a:solidFill>
                <a:latin typeface="Consolas"/>
              </a:rPr>
              <a:t>    return 100 - (100 / (1 + rs))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C++ ↔ Python Algorithm Parity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057400"/>
            <a:ext cx="1097280" cy="457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9984" y="2103120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Indicator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057400"/>
            <a:ext cx="1554480" cy="457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27264" y="2103120"/>
            <a:ext cx="1444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Python algo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2057400"/>
            <a:ext cx="1737360" cy="457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81744" y="210312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C++ impl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64240" y="2057400"/>
            <a:ext cx="731520" cy="457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19104" y="2103120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Tolerance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514600"/>
            <a:ext cx="1097280" cy="4572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9984" y="2551176"/>
            <a:ext cx="987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RSI(14)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2514600"/>
            <a:ext cx="1554480" cy="4572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27264" y="2551176"/>
            <a:ext cx="1444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ewm(com=13, adjust=True)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514600"/>
            <a:ext cx="1737360" cy="4572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81744" y="2551176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ewm_adjusted(): recursive num/den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64240" y="2514600"/>
            <a:ext cx="731520" cy="4572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19104" y="2551176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±0.01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971800"/>
            <a:ext cx="1097280" cy="45720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9984" y="3008376"/>
            <a:ext cx="987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MACD(12,26,9)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2971800"/>
            <a:ext cx="1554480" cy="45720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27264" y="3008376"/>
            <a:ext cx="1444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ewm(span=n, adjust=False)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2971800"/>
            <a:ext cx="1737360" cy="45720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81744" y="3008376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ewm_unadjusted(): α·x+(1-α)·prev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064240" y="2971800"/>
            <a:ext cx="731520" cy="45720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19104" y="3008376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±0.01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3429000"/>
            <a:ext cx="1097280" cy="4572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9984" y="3465576"/>
            <a:ext cx="987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BB(20,2σ)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3429000"/>
            <a:ext cx="1554480" cy="4572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27264" y="3465576"/>
            <a:ext cx="1444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rolling(20).std(ddof=1)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3429000"/>
            <a:ext cx="1737360" cy="4572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81744" y="3465576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Var=(Σx²−n·μ²)/(n−1)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064240" y="3429000"/>
            <a:ext cx="731520" cy="4572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119104" y="3465576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±0.01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Why C++?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480560"/>
            <a:ext cx="5029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Exact EWM adjusted vs unadjusted matters —
  pandas defaults differ for RSI vs MACD.
  C++ encodes the correct algorithm explicitly.
• pybind11 passes numpy arrays as C++ vectors
  with zero Python overhead.
• Build: powershell -File cpp/build_ext.ps1
  Output: stockindicators.cp313-win_amd64.pyd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</a:rPr>
              <a:t>Safety Rails — No Single Failure Can Kill the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566160" cy="210312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FF"/>
                </a:solidFill>
              </a:rPr>
              <a:t>input_rail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BCC"/>
                </a:solidFill>
              </a:rPr>
              <a:t>Before fan-out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Validates ticker exists in yfinance.
Bad tickers flagged with rail_errors.
Analysis still continues.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005840"/>
            <a:ext cx="3566160" cy="2103120"/>
          </a:xfrm>
          <a:prstGeom prst="rect">
            <a:avLst/>
          </a:prstGeom>
          <a:solidFill>
            <a:srgbClr val="1226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0789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600"/>
                </a:solidFill>
              </a:rPr>
              <a:t>output_rail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361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BCC"/>
                </a:solidFill>
              </a:rPr>
              <a:t>Inside run_agent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202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Clamps every score to [0.0, 1.0].
Injects default summary if empty.
Prevents NaN from corrupting weighted sum.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005840"/>
            <a:ext cx="3566160" cy="2103120"/>
          </a:xfrm>
          <a:prstGeom prst="rect">
            <a:avLst/>
          </a:prstGeom>
          <a:solidFill>
            <a:srgbClr val="12263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0789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00"/>
                </a:solidFill>
              </a:rPr>
              <a:t>conflict_rail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5361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BCC"/>
                </a:solidFill>
              </a:rPr>
              <a:t>Inside aggregate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9202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If any two agents diverge &gt; 0.35,
triggers LLM re-resolution.
Ensures final verdict reflects reasoning.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Fallback Chain — what happens when each component fails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384048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703320"/>
            <a:ext cx="3730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Failure 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657600"/>
            <a:ext cx="713232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52544" y="3703320"/>
            <a:ext cx="7022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What Happens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05072"/>
            <a:ext cx="384048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" y="4041648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Ticker resolution LLM fails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005072"/>
            <a:ext cx="713232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52544" y="4041648"/>
            <a:ext cx="7022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Raw input used as ticker directly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52544"/>
            <a:ext cx="3840480" cy="347472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" y="4389120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C++ .pyd absent (not built)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4352544"/>
            <a:ext cx="7132320" cy="347472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52544" y="4389120"/>
            <a:ext cx="7022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_USE_CPP=False → pandas fallback, identical results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00016"/>
            <a:ext cx="384048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2064" y="4736592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RAG retrieval fails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700016"/>
            <a:ext cx="713232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52544" y="4736592"/>
            <a:ext cx="7022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Falls back to Phase 2 live data (ContextBuilder)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47488"/>
            <a:ext cx="3840480" cy="347472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2064" y="5084064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Live data fails (Serper/yfinance)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5047488"/>
            <a:ext cx="7132320" cy="347472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52544" y="5084064"/>
            <a:ext cx="7022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Falls back to minimal stub string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394960"/>
            <a:ext cx="384048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2064" y="5431536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Agent LLM all retries fail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5394960"/>
            <a:ext cx="713232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52544" y="5431536"/>
            <a:ext cx="7022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AgentOutput(score=0.5) — neutral, never crashes pipeline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742432"/>
            <a:ext cx="3840480" cy="347472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2064" y="5779008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Signal Aggregator JSON fail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5742432"/>
            <a:ext cx="7132320" cy="347472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52544" y="5779008"/>
            <a:ext cx="7022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FinalReport(score=0.5, verdict=NEUTRAL)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089904"/>
            <a:ext cx="384048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12064" y="6126480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C# score_store proxy fails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6089904"/>
            <a:ext cx="7132320" cy="34747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52544" y="6126480"/>
            <a:ext cx="7022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Warning logged → pipeline continues without persistence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600"/>
                </a:solidFill>
              </a:rPr>
              <a:t>Why 0.5 as fallback score?  It is the most conservative position — neither buy nor sell.
A crashed agent producing a false BUY signal is far more dangerous than a neutral fallback.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</a:rPr>
              <a:t>Execution Paths — Sync vs Async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BCC"/>
                </a:solidFill>
              </a:rPr>
              <a:t>Two execution paths produce identical FinalReports. The path chosen depends on the caller.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394960" cy="502920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67A"/>
                </a:solidFill>
              </a:rPr>
              <a:t>SYNC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BCC"/>
                </a:solidFill>
              </a:rPr>
              <a:t>CLI · APScheduler · C# AnalyseJob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68880"/>
            <a:ext cx="5074920" cy="292608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2560320"/>
            <a:ext cx="4855464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ThreadPoolExecutor(max_workers=8)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├── agent.run(query) × 8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└── as_completed(timeout=120s)</a:t>
            </a:r>
          </a:p>
          <a:p>
            <a:pPr algn="l"/>
            <a:endParaRPr sz="1200">
              <a:solidFill>
                <a:srgbClr val="00E67A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LLM client: openai.OpenAI (sync)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Retry back-off: time.sleep()</a:t>
            </a:r>
          </a:p>
          <a:p>
            <a:pPr algn="l"/>
            <a:endParaRPr sz="1200">
              <a:solidFill>
                <a:srgbClr val="00E67A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Context I/O: blocking calls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(yfinance, Serper) in threads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4864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Simple. No event loop. Works in any
script, scheduler, or test.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08760"/>
            <a:ext cx="5486400" cy="5029200"/>
          </a:xfrm>
          <a:prstGeom prst="rect">
            <a:avLst/>
          </a:prstGeom>
          <a:solidFill>
            <a:srgbClr val="1226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FF"/>
                </a:solidFill>
              </a:rPr>
              <a:t>ASYNC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299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BCC"/>
                </a:solidFill>
              </a:rPr>
              <a:t>FastAPI /analyse · WS /ws/stream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468880"/>
            <a:ext cx="5212080" cy="292608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47688" y="2560320"/>
            <a:ext cx="4992624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asyncio.gather(*[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  agent.run_async(query)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  for agent in _SUB_AGENTS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])</a:t>
            </a:r>
          </a:p>
          <a:p>
            <a:pPr algn="l"/>
            <a:endParaRPr sz="1200">
              <a:solidFill>
                <a:srgbClr val="00E67A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each run_async():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context = await asyncio.to_thread(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    _gather_context)  # I/O offloaded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raw = await AsyncOpenAI.chat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      .completions.create()  # coroutine</a:t>
            </a:r>
          </a:p>
          <a:p>
            <a:pPr algn="l"/>
            <a:r>
              <a:rPr sz="1200">
                <a:solidFill>
                  <a:srgbClr val="00E67A"/>
                </a:solidFill>
                <a:latin typeface="Consolas"/>
              </a:rPr>
              <a:t>Retry back-off: asyncio.sleep()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5486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True coroutine-level concurrency.
No OS threads for LLM calls.
Lower memory under concurrent requests.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</a:rPr>
              <a:t>Keyword Glossary — Quick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  LLM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058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Prompt + context → LLM → structured JSON output. One agent = one viewpoint.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824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  LangGraph StateGraph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6824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Directed graph for LLM workflows. Nodes = functions, edges =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  Send()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591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LangGraph fan-out: spawn N parallel branches simultaneously.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358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A"/>
                </a:solidFill>
              </a:rPr>
              <a:t>  ContextBuilder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035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Routes (sector, agent_name) to the right data fetcher (yfinance/Serper/Tavily).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124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 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7124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Retrieval-Augmented Generation: query your own docs via vector similarity before LLM.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89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  ChromaDB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389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Local vector database. Stores embeddings from PDFs/docs for RAG retrieval.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065775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  Signal Aggregator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06577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Weighted fusion + conflict detection + LLM resolution → final verdict.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74243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A"/>
                </a:solidFill>
              </a:rPr>
              <a:t>  Macro 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74243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TTL in-memory store. Background daemon pre-fetches sector news every 4h.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005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  input_rail / output_rail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0058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Guard nodes: validate ticker, clamp scores, inject defaults.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68249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  pybind11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68249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C++ → Python bridge. Exposes RSI/MACD/BB as Python-callable functions.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3591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  Serper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3591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Google Search API. 2,500 free queries/month. Returns snippets, not full pages.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0358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A"/>
                </a:solidFill>
              </a:rPr>
              <a:t>  Tavily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0358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Full-page web extraction API. Used for policy PDFs (FAME, MNRE). 1,000/mo free.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7124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  EWM (Exponential Weighted Mean)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71246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EWM adjusted (RSI) vs unadjusted (MACD) — different initial conditions.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3891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  Conflict Resolution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3891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When two agents disagree by ≥0.30 on score, LLM reasons about which to trust.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065775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  Verdict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5065775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STRONG BUY/BUY/NEUTRAL/SELL/STRONG SELL derived from 0–1 composite score.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74243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A"/>
                </a:solidFill>
              </a:rPr>
              <a:t>  FinalReport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5742431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Pydantic model: score, verdict, sub-scores, thesis, risks, conflicts_resolved.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97880" y="914400"/>
            <a:ext cx="25400" cy="566928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ABBCC"/>
                </a:solidFill>
              </a:rPr>
              <a:t>StockAgent 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"28 specialist LLM agents, each given real-time data for their domain,
 run in parallel via LangGraph, and their scores are fused with
 conflict-aware weighted aggregation into a single investment verdict."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34640"/>
            <a:ext cx="1124712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FF"/>
                </a:solidFill>
              </a:rPr>
              <a:t>What makes it interesting: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🔀  Conflict resolution uses LLM reasoning, not arithmetic — captures which signal matters MORE right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416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💾  Macro Cache: background daemon pre-fetches sector news so individual analyses are cache-HIT (saves ~1,000 Serper calls/month)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0857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🏗️   4-language system: C++ computes indicators, Python runs agents, TypeScript serves the UI, C# schedules and persists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7550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🛡️   Three safety rails + full fallback chain — no single failure can crash the pipeline or produce a false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42431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📐  ContextBuilder two-level routing: sector-specific builders fall through to shared yfinance builders (pattern_analysis works for all sectors)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5FF"/>
                </a:solidFill>
              </a:rPr>
              <a:t>Questions?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3681</Words>
  <Application>Microsoft Office PowerPoint</Application>
  <PresentationFormat>Custom</PresentationFormat>
  <Paragraphs>436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Revan Parimi</cp:lastModifiedBy>
  <cp:revision>1</cp:revision>
  <dcterms:created xsi:type="dcterms:W3CDTF">2013-01-27T09:14:16Z</dcterms:created>
  <dcterms:modified xsi:type="dcterms:W3CDTF">2026-04-18T02:09:52Z</dcterms:modified>
  <cp:category/>
</cp:coreProperties>
</file>